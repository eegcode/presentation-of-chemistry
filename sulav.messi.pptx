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7" r:id="rId2"/>
    <p:sldId id="260" r:id="rId3"/>
    <p:sldId id="259" r:id="rId4"/>
    <p:sldId id="258" r:id="rId5"/>
    <p:sldId id="261" r:id="rId6"/>
    <p:sldId id="262" r:id="rId7"/>
    <p:sldId id="263"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24" autoAdjust="0"/>
  </p:normalViewPr>
  <p:slideViewPr>
    <p:cSldViewPr>
      <p:cViewPr>
        <p:scale>
          <a:sx n="66" d="100"/>
          <a:sy n="66" d="100"/>
        </p:scale>
        <p:origin x="-99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259306-742D-4514-BC67-E99C0EDC6B4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210F15C-611B-488C-89F8-B019391B1A9D}">
      <dgm:prSet/>
      <dgm:spPr/>
      <dgm:t>
        <a:bodyPr/>
        <a:lstStyle/>
        <a:p>
          <a:pPr rtl="0"/>
          <a:r>
            <a:rPr lang="en-US" dirty="0" smtClean="0"/>
            <a:t>A powdery substance made by </a:t>
          </a:r>
          <a:r>
            <a:rPr lang="en-US" dirty="0" err="1" smtClean="0"/>
            <a:t>calcining</a:t>
          </a:r>
          <a:r>
            <a:rPr lang="en-US" dirty="0" smtClean="0"/>
            <a:t> lime and clay, mixed with water to form mortar or mixed with sand, gravel, and water to make concrete. </a:t>
          </a:r>
          <a:endParaRPr lang="en-US" dirty="0"/>
        </a:p>
      </dgm:t>
    </dgm:pt>
    <dgm:pt modelId="{0E07C60F-6C54-4762-B008-8C530E3C21A0}" type="sibTrans" cxnId="{F8ACCD59-7BA7-442A-B149-2D3AA12F5B82}">
      <dgm:prSet/>
      <dgm:spPr/>
      <dgm:t>
        <a:bodyPr/>
        <a:lstStyle/>
        <a:p>
          <a:endParaRPr lang="en-US"/>
        </a:p>
      </dgm:t>
    </dgm:pt>
    <dgm:pt modelId="{E686601F-6DE1-46F9-926B-8DA738ED18E9}" type="parTrans" cxnId="{F8ACCD59-7BA7-442A-B149-2D3AA12F5B82}">
      <dgm:prSet/>
      <dgm:spPr/>
      <dgm:t>
        <a:bodyPr/>
        <a:lstStyle/>
        <a:p>
          <a:endParaRPr lang="en-US"/>
        </a:p>
      </dgm:t>
    </dgm:pt>
    <dgm:pt modelId="{0EFC810C-E3DD-4548-A6E4-AC446020DE74}">
      <dgm:prSet/>
      <dgm:spPr/>
      <dgm:t>
        <a:bodyPr/>
        <a:lstStyle/>
        <a:p>
          <a:r>
            <a:rPr lang="en-US" b="1" i="0" dirty="0" smtClean="0"/>
            <a:t>A powder that is made mainly from compounds of aluminum, calcium, silicon, and iron heated together and then ground and mixed with water to make mortar and concrete</a:t>
          </a:r>
          <a:r>
            <a:rPr lang="en-US" b="0" i="0" dirty="0" smtClean="0"/>
            <a:t>.</a:t>
          </a:r>
          <a:endParaRPr lang="en-US" dirty="0"/>
        </a:p>
      </dgm:t>
    </dgm:pt>
    <dgm:pt modelId="{20FB2FD5-2289-422D-A62A-FC4D7F5B9E58}" type="parTrans" cxnId="{C6A60C44-B90F-4A83-A109-F7FB6C90A88C}">
      <dgm:prSet/>
      <dgm:spPr/>
      <dgm:t>
        <a:bodyPr/>
        <a:lstStyle/>
        <a:p>
          <a:endParaRPr lang="en-US"/>
        </a:p>
      </dgm:t>
    </dgm:pt>
    <dgm:pt modelId="{086A1EC2-5386-4225-959C-9B9FBF51B634}" type="sibTrans" cxnId="{C6A60C44-B90F-4A83-A109-F7FB6C90A88C}">
      <dgm:prSet/>
      <dgm:spPr/>
      <dgm:t>
        <a:bodyPr/>
        <a:lstStyle/>
        <a:p>
          <a:endParaRPr lang="en-US"/>
        </a:p>
      </dgm:t>
    </dgm:pt>
    <dgm:pt modelId="{B7A762A5-7AFE-4C0C-A3CF-5F271E1C86E6}" type="pres">
      <dgm:prSet presAssocID="{B0259306-742D-4514-BC67-E99C0EDC6B40}" presName="linear" presStyleCnt="0">
        <dgm:presLayoutVars>
          <dgm:animLvl val="lvl"/>
          <dgm:resizeHandles val="exact"/>
        </dgm:presLayoutVars>
      </dgm:prSet>
      <dgm:spPr/>
    </dgm:pt>
    <dgm:pt modelId="{81B5109D-8D51-4C01-AFBE-FE903A7E4224}" type="pres">
      <dgm:prSet presAssocID="{4210F15C-611B-488C-89F8-B019391B1A9D}" presName="parentText" presStyleLbl="node1" presStyleIdx="0" presStyleCnt="2">
        <dgm:presLayoutVars>
          <dgm:chMax val="0"/>
          <dgm:bulletEnabled val="1"/>
        </dgm:presLayoutVars>
      </dgm:prSet>
      <dgm:spPr/>
      <dgm:t>
        <a:bodyPr/>
        <a:lstStyle/>
        <a:p>
          <a:endParaRPr lang="en-US"/>
        </a:p>
      </dgm:t>
    </dgm:pt>
    <dgm:pt modelId="{819AF1B4-8ED4-48EE-A4B8-D2A04EB802C0}" type="pres">
      <dgm:prSet presAssocID="{0E07C60F-6C54-4762-B008-8C530E3C21A0}" presName="spacer" presStyleCnt="0"/>
      <dgm:spPr/>
    </dgm:pt>
    <dgm:pt modelId="{D8B59E69-C681-4E7F-83BD-5C98EA0F9401}" type="pres">
      <dgm:prSet presAssocID="{0EFC810C-E3DD-4548-A6E4-AC446020DE74}" presName="parentText" presStyleLbl="node1" presStyleIdx="1" presStyleCnt="2">
        <dgm:presLayoutVars>
          <dgm:chMax val="0"/>
          <dgm:bulletEnabled val="1"/>
        </dgm:presLayoutVars>
      </dgm:prSet>
      <dgm:spPr/>
      <dgm:t>
        <a:bodyPr/>
        <a:lstStyle/>
        <a:p>
          <a:endParaRPr lang="en-US"/>
        </a:p>
      </dgm:t>
    </dgm:pt>
  </dgm:ptLst>
  <dgm:cxnLst>
    <dgm:cxn modelId="{F8ACCD59-7BA7-442A-B149-2D3AA12F5B82}" srcId="{B0259306-742D-4514-BC67-E99C0EDC6B40}" destId="{4210F15C-611B-488C-89F8-B019391B1A9D}" srcOrd="0" destOrd="0" parTransId="{E686601F-6DE1-46F9-926B-8DA738ED18E9}" sibTransId="{0E07C60F-6C54-4762-B008-8C530E3C21A0}"/>
    <dgm:cxn modelId="{8974B56C-2D05-4B8F-9DCF-9A7720B2E6E4}" type="presOf" srcId="{0EFC810C-E3DD-4548-A6E4-AC446020DE74}" destId="{D8B59E69-C681-4E7F-83BD-5C98EA0F9401}" srcOrd="0" destOrd="0" presId="urn:microsoft.com/office/officeart/2005/8/layout/vList2"/>
    <dgm:cxn modelId="{B8E92A5B-F9E9-4F64-81FB-6E9440E6340A}" type="presOf" srcId="{B0259306-742D-4514-BC67-E99C0EDC6B40}" destId="{B7A762A5-7AFE-4C0C-A3CF-5F271E1C86E6}" srcOrd="0" destOrd="0" presId="urn:microsoft.com/office/officeart/2005/8/layout/vList2"/>
    <dgm:cxn modelId="{C6A60C44-B90F-4A83-A109-F7FB6C90A88C}" srcId="{B0259306-742D-4514-BC67-E99C0EDC6B40}" destId="{0EFC810C-E3DD-4548-A6E4-AC446020DE74}" srcOrd="1" destOrd="0" parTransId="{20FB2FD5-2289-422D-A62A-FC4D7F5B9E58}" sibTransId="{086A1EC2-5386-4225-959C-9B9FBF51B634}"/>
    <dgm:cxn modelId="{FAA100DA-C02D-4971-85ED-2FD64DE64F3B}" type="presOf" srcId="{4210F15C-611B-488C-89F8-B019391B1A9D}" destId="{81B5109D-8D51-4C01-AFBE-FE903A7E4224}" srcOrd="0" destOrd="0" presId="urn:microsoft.com/office/officeart/2005/8/layout/vList2"/>
    <dgm:cxn modelId="{48E05E2A-F4DB-4D5E-A251-C9AABC0400A8}" type="presParOf" srcId="{B7A762A5-7AFE-4C0C-A3CF-5F271E1C86E6}" destId="{81B5109D-8D51-4C01-AFBE-FE903A7E4224}" srcOrd="0" destOrd="0" presId="urn:microsoft.com/office/officeart/2005/8/layout/vList2"/>
    <dgm:cxn modelId="{48DD73AB-2DF0-44D1-A6E0-3A01F4CB7F01}" type="presParOf" srcId="{B7A762A5-7AFE-4C0C-A3CF-5F271E1C86E6}" destId="{819AF1B4-8ED4-48EE-A4B8-D2A04EB802C0}" srcOrd="1" destOrd="0" presId="urn:microsoft.com/office/officeart/2005/8/layout/vList2"/>
    <dgm:cxn modelId="{D48A988E-6967-456A-ABA0-ED4C9765E1AE}" type="presParOf" srcId="{B7A762A5-7AFE-4C0C-A3CF-5F271E1C86E6}" destId="{D8B59E69-C681-4E7F-83BD-5C98EA0F9401}" srcOrd="2" destOrd="0" presId="urn:microsoft.com/office/officeart/2005/8/layout/vList2"/>
  </dgm:cxnLst>
  <dgm:bg/>
  <dgm:whole/>
</dgm:dataModel>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E4C35381-5767-4B84-9BDC-379CEAF9C030}" type="datetimeFigureOut">
              <a:rPr lang="en-US" smtClean="0"/>
              <a:t>3/17/2022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69B25351-BF22-48D1-B33D-5A8064C98D9E}" type="slidenum">
              <a:rPr lang="en-US" smtClean="0"/>
              <a:t>‹#›</a:t>
            </a:fld>
            <a:endParaRPr lang="en-US"/>
          </a:p>
        </p:txBody>
      </p:sp>
    </p:spTree>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9B25351-BF22-48D1-B33D-5A8064C98D9E}"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9B25351-BF22-48D1-B33D-5A8064C98D9E}"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9B25351-BF22-48D1-B33D-5A8064C98D9E}"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69B25351-BF22-48D1-B33D-5A8064C98D9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69B25351-BF22-48D1-B33D-5A8064C98D9E}"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69B25351-BF22-48D1-B33D-5A8064C98D9E}" type="slidenum">
              <a:rPr lang="en-US" smtClean="0"/>
              <a:t>‹#›</a:t>
            </a:fld>
            <a:endParaRPr lang="en-US"/>
          </a:p>
        </p:txBody>
      </p:sp>
    </p:spTree>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E4C35381-5767-4B84-9BDC-379CEAF9C030}" type="datetimeFigureOut">
              <a:rPr lang="en-US" smtClean="0"/>
              <a:t>3/17/2022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69B25351-BF22-48D1-B33D-5A8064C98D9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4C35381-5767-4B84-9BDC-379CEAF9C030}" type="datetimeFigureOut">
              <a:rPr lang="en-US" smtClean="0"/>
              <a:t>3/17/2022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69B25351-BF22-48D1-B33D-5A8064C98D9E}"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9B25351-BF22-48D1-B33D-5A8064C98D9E}" type="slidenum">
              <a:rPr lang="en-US" smtClean="0"/>
              <a:t>‹#›</a:t>
            </a:fld>
            <a:endParaRPr lang="en-US"/>
          </a:p>
        </p:txBody>
      </p:sp>
    </p:spTree>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4C35381-5767-4B84-9BDC-379CEAF9C030}" type="datetimeFigureOut">
              <a:rPr lang="en-US" smtClean="0"/>
              <a:t>3/17/2022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69B25351-BF22-48D1-B33D-5A8064C98D9E}" type="slidenum">
              <a:rPr lang="en-US" smtClean="0"/>
              <a:t>‹#›</a:t>
            </a:fld>
            <a:endParaRPr lang="en-US"/>
          </a:p>
        </p:txBody>
      </p:sp>
    </p:spTree>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E4C35381-5767-4B84-9BDC-379CEAF9C030}" type="datetimeFigureOut">
              <a:rPr lang="en-US" smtClean="0"/>
              <a:t>3/17/2022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69B25351-BF22-48D1-B33D-5A8064C98D9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spd="slow">
    <p:randomBar dir="vert"/>
  </p:transition>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Gravel" TargetMode="External"/><Relationship Id="rId13" Type="http://schemas.openxmlformats.org/officeDocument/2006/relationships/hyperlink" Target="https://en.wikipedia.org/wiki/Lime_mortar" TargetMode="External"/><Relationship Id="rId3" Type="http://schemas.openxmlformats.org/officeDocument/2006/relationships/hyperlink" Target="https://en.wikipedia.org/wiki/Solidification" TargetMode="External"/><Relationship Id="rId7" Type="http://schemas.openxmlformats.org/officeDocument/2006/relationships/hyperlink" Target="https://en.wikipedia.org/wiki/Sand" TargetMode="External"/><Relationship Id="rId12" Type="http://schemas.openxmlformats.org/officeDocument/2006/relationships/hyperlink" Target="https://en.wikipedia.org/wiki/Calcium_silicate" TargetMode="External"/><Relationship Id="rId2" Type="http://schemas.openxmlformats.org/officeDocument/2006/relationships/hyperlink" Target="https://en.wikipedia.org/wiki/Binder_(material)" TargetMode="External"/><Relationship Id="rId1" Type="http://schemas.openxmlformats.org/officeDocument/2006/relationships/slideLayout" Target="../slideLayouts/slideLayout2.xml"/><Relationship Id="rId6" Type="http://schemas.openxmlformats.org/officeDocument/2006/relationships/hyperlink" Target="https://en.wikipedia.org/wiki/Mortar_(masonry)" TargetMode="External"/><Relationship Id="rId11" Type="http://schemas.openxmlformats.org/officeDocument/2006/relationships/hyperlink" Target="https://en.wikipedia.org/wiki/Lime_(material)" TargetMode="External"/><Relationship Id="rId5" Type="http://schemas.openxmlformats.org/officeDocument/2006/relationships/hyperlink" Target="https://en.wikipedia.org/wiki/Construction_aggregate" TargetMode="External"/><Relationship Id="rId10" Type="http://schemas.openxmlformats.org/officeDocument/2006/relationships/hyperlink" Target="https://en.wikipedia.org/wiki/Inorganic" TargetMode="External"/><Relationship Id="rId4" Type="http://schemas.openxmlformats.org/officeDocument/2006/relationships/hyperlink" Target="https://en.wikipedia.org/wiki/Material" TargetMode="External"/><Relationship Id="rId9" Type="http://schemas.openxmlformats.org/officeDocument/2006/relationships/hyperlink" Target="https://en.wikipedia.org/wiki/Concrete"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Pozzolana" TargetMode="External"/><Relationship Id="rId3" Type="http://schemas.openxmlformats.org/officeDocument/2006/relationships/hyperlink" Target="https://en.wikipedia.org/wiki/Portland_cement" TargetMode="External"/><Relationship Id="rId7" Type="http://schemas.openxmlformats.org/officeDocument/2006/relationships/hyperlink" Target="https://en.wikipedia.org/wiki/Volcanic_ash" TargetMode="External"/><Relationship Id="rId2" Type="http://schemas.openxmlformats.org/officeDocument/2006/relationships/hyperlink" Target="https://en.wikipedia.org/wiki/Carbon_dioxide" TargetMode="External"/><Relationship Id="rId1" Type="http://schemas.openxmlformats.org/officeDocument/2006/relationships/slideLayout" Target="../slideLayouts/slideLayout2.xml"/><Relationship Id="rId6" Type="http://schemas.openxmlformats.org/officeDocument/2006/relationships/hyperlink" Target="https://en.wikipedia.org/wiki/Hydrate" TargetMode="External"/><Relationship Id="rId5" Type="http://schemas.openxmlformats.org/officeDocument/2006/relationships/hyperlink" Target="https://en.wikipedia.org/wiki/Chemical_reaction" TargetMode="External"/><Relationship Id="rId4" Type="http://schemas.openxmlformats.org/officeDocument/2006/relationships/hyperlink" Target="https://en.wikipedia.org/wiki/Adhesive" TargetMode="External"/><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gharpedia.com/blog/properties-of-cemen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gharpedia.com/blog/setting-time-cemen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harpedia.com/blog/tests-to-check-the-compressive-strength-of-cement/" TargetMode="External"/><Relationship Id="rId2" Type="http://schemas.openxmlformats.org/officeDocument/2006/relationships/hyperlink" Target="https://gharpedia.com/blog/colour-of-cement-affect-strength-of-cement/" TargetMode="Externa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hyperlink" Target="https://gharpedia.com/blog/manufacturing-process-ordinary-portland-cement-opc/"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harpedia.com/blog/fly-ash-for-concrete-uses-advantages-and-disadvantages/" TargetMode="External"/><Relationship Id="rId7" Type="http://schemas.openxmlformats.org/officeDocument/2006/relationships/image" Target="../media/image12.png"/><Relationship Id="rId2" Type="http://schemas.openxmlformats.org/officeDocument/2006/relationships/hyperlink" Target="https://gharpedia.com/blog/cement-widely-used-building-material/" TargetMode="External"/><Relationship Id="rId1" Type="http://schemas.openxmlformats.org/officeDocument/2006/relationships/slideLayout" Target="../slideLayouts/slideLayout2.xml"/><Relationship Id="rId6" Type="http://schemas.openxmlformats.org/officeDocument/2006/relationships/hyperlink" Target="https://gharpedia.com/blog/pozzolanic-materials-cement-ingredients/" TargetMode="External"/><Relationship Id="rId5" Type="http://schemas.openxmlformats.org/officeDocument/2006/relationships/hyperlink" Target="https://gharpedia.com/blog/silica-fume-pros-cons-and-effect-on-properties-of-concrete/" TargetMode="External"/><Relationship Id="rId4" Type="http://schemas.openxmlformats.org/officeDocument/2006/relationships/hyperlink" Target="https://gharpedia.com/blog/ggbs-ground-granulated-blast-furnace-slag-for-concret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Title 1"/>
          <p:cNvSpPr>
            <a:spLocks noGrp="1"/>
          </p:cNvSpPr>
          <p:nvPr>
            <p:ph type="title"/>
          </p:nvPr>
        </p:nvSpPr>
        <p:spPr/>
        <p:txBody>
          <a:bodyPr/>
          <a:lstStyle/>
          <a:p>
            <a:endParaRPr lang="en-US"/>
          </a:p>
        </p:txBody>
      </p:sp>
      <p:pic>
        <p:nvPicPr>
          <p:cNvPr id="2051" name="Picture 3" descr="C:\Users\Dell\AppData\Local\Microsoft\Windows\INetCache\IE\CNNBN98E\37146012394_12bd076217_c[1].jp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
        <p:nvSpPr>
          <p:cNvPr id="6" name="TextBox 5"/>
          <p:cNvSpPr txBox="1"/>
          <p:nvPr/>
        </p:nvSpPr>
        <p:spPr>
          <a:xfrm>
            <a:off x="2590800" y="2209799"/>
            <a:ext cx="4495800" cy="1200329"/>
          </a:xfrm>
          <a:prstGeom prst="rect">
            <a:avLst/>
          </a:prstGeom>
          <a:noFill/>
        </p:spPr>
        <p:txBody>
          <a:bodyPr wrap="square" rtlCol="0">
            <a:spAutoFit/>
          </a:bodyPr>
          <a:lstStyle/>
          <a:p>
            <a:r>
              <a:rPr lang="en-US" sz="7200" dirty="0" smtClean="0">
                <a:ln>
                  <a:solidFill>
                    <a:srgbClr val="FF0000"/>
                  </a:solidFill>
                </a:ln>
                <a:solidFill>
                  <a:schemeClr val="tx1">
                    <a:lumMod val="95000"/>
                    <a:lumOff val="5000"/>
                  </a:schemeClr>
                </a:solidFill>
                <a:effectLst>
                  <a:glow rad="139700">
                    <a:schemeClr val="accent5">
                      <a:satMod val="175000"/>
                      <a:alpha val="40000"/>
                    </a:schemeClr>
                  </a:glow>
                  <a:outerShdw blurRad="38100" dist="38100" dir="2700000" algn="tl">
                    <a:srgbClr val="000000">
                      <a:alpha val="43137"/>
                    </a:srgbClr>
                  </a:outerShdw>
                  <a:reflection blurRad="6350" stA="60000" endA="900" endPos="60000" dist="60007" dir="5400000" sy="-100000" algn="bl" rotWithShape="0"/>
                </a:effectLst>
                <a:latin typeface="Cooper Black" pitchFamily="18" charset="0"/>
              </a:rPr>
              <a:t>CEMENT</a:t>
            </a:r>
            <a:endParaRPr lang="en-US" sz="7200" dirty="0">
              <a:ln>
                <a:solidFill>
                  <a:srgbClr val="FF0000"/>
                </a:solidFill>
              </a:ln>
              <a:solidFill>
                <a:schemeClr val="tx1">
                  <a:lumMod val="95000"/>
                  <a:lumOff val="5000"/>
                </a:schemeClr>
              </a:solidFill>
              <a:effectLst>
                <a:glow rad="139700">
                  <a:schemeClr val="accent5">
                    <a:satMod val="175000"/>
                    <a:alpha val="40000"/>
                  </a:schemeClr>
                </a:glow>
                <a:outerShdw blurRad="38100" dist="38100" dir="2700000" algn="tl">
                  <a:srgbClr val="000000">
                    <a:alpha val="43137"/>
                  </a:srgbClr>
                </a:outerShdw>
                <a:reflection blurRad="6350" stA="60000" endA="900" endPos="60000" dist="60007" dir="5400000" sy="-100000" algn="bl" rotWithShape="0"/>
              </a:effectLst>
              <a:latin typeface="Cooper Black" pitchFamily="18" charset="0"/>
            </a:endParaRPr>
          </a:p>
        </p:txBody>
      </p:sp>
      <p:pic>
        <p:nvPicPr>
          <p:cNvPr id="2052" name="Picture 4" descr="C:\Users\Dell\AppData\Local\Microsoft\Windows\INetCache\IE\TVKBZP0J\Fresh_Cement_(Primitive_Plus)[1].png"/>
          <p:cNvPicPr>
            <a:picLocks noChangeAspect="1" noChangeArrowheads="1"/>
          </p:cNvPicPr>
          <p:nvPr/>
        </p:nvPicPr>
        <p:blipFill>
          <a:blip r:embed="rId3"/>
          <a:srcRect/>
          <a:stretch>
            <a:fillRect/>
          </a:stretch>
        </p:blipFill>
        <p:spPr bwMode="auto">
          <a:xfrm>
            <a:off x="5943600" y="3962400"/>
            <a:ext cx="3200400" cy="3200400"/>
          </a:xfrm>
          <a:prstGeom prst="rect">
            <a:avLst/>
          </a:prstGeom>
          <a:noFill/>
        </p:spPr>
      </p:pic>
    </p:spTree>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A </a:t>
            </a:r>
            <a:r>
              <a:rPr lang="en-US" b="1" dirty="0" smtClean="0"/>
              <a:t>cement</a:t>
            </a:r>
            <a:r>
              <a:rPr lang="en-US" dirty="0" smtClean="0"/>
              <a:t> is a </a:t>
            </a:r>
            <a:r>
              <a:rPr lang="en-US" dirty="0" smtClean="0">
                <a:hlinkClick r:id="rId2" tooltip="Binder (material)"/>
              </a:rPr>
              <a:t>binder</a:t>
            </a:r>
            <a:r>
              <a:rPr lang="en-US" dirty="0" smtClean="0"/>
              <a:t>, a substance used for construction that </a:t>
            </a:r>
            <a:r>
              <a:rPr lang="en-US" dirty="0" smtClean="0">
                <a:hlinkClick r:id="rId3" tooltip="Solidification"/>
              </a:rPr>
              <a:t>sets</a:t>
            </a:r>
            <a:r>
              <a:rPr lang="en-US" dirty="0" smtClean="0"/>
              <a:t>, hardens, and adheres to other </a:t>
            </a:r>
            <a:r>
              <a:rPr lang="en-US" dirty="0" smtClean="0">
                <a:hlinkClick r:id="rId4" tooltip="Material"/>
              </a:rPr>
              <a:t>materials</a:t>
            </a:r>
            <a:r>
              <a:rPr lang="en-US" dirty="0" smtClean="0"/>
              <a:t> to bind them together. Cement is seldom used on its own, but rather to bind sand and gravel (</a:t>
            </a:r>
            <a:r>
              <a:rPr lang="en-US" dirty="0" smtClean="0">
                <a:hlinkClick r:id="rId5" tooltip="Construction aggregate"/>
              </a:rPr>
              <a:t>aggregate</a:t>
            </a:r>
            <a:r>
              <a:rPr lang="en-US" dirty="0" smtClean="0"/>
              <a:t>) together. Cement mixed with fine aggregate produces </a:t>
            </a:r>
            <a:r>
              <a:rPr lang="en-US" dirty="0" smtClean="0">
                <a:hlinkClick r:id="rId6" tooltip="Mortar (masonry)"/>
              </a:rPr>
              <a:t>mortar</a:t>
            </a:r>
            <a:r>
              <a:rPr lang="en-US" dirty="0" smtClean="0"/>
              <a:t> for masonry, or with </a:t>
            </a:r>
            <a:r>
              <a:rPr lang="en-US" dirty="0" smtClean="0">
                <a:hlinkClick r:id="rId7" tooltip="Sand"/>
              </a:rPr>
              <a:t>sand</a:t>
            </a:r>
            <a:r>
              <a:rPr lang="en-US" dirty="0" smtClean="0"/>
              <a:t> and </a:t>
            </a:r>
            <a:r>
              <a:rPr lang="en-US" dirty="0" smtClean="0">
                <a:hlinkClick r:id="rId8" tooltip="Gravel"/>
              </a:rPr>
              <a:t>gravel</a:t>
            </a:r>
            <a:r>
              <a:rPr lang="en-US" dirty="0" smtClean="0"/>
              <a:t>, produces </a:t>
            </a:r>
            <a:r>
              <a:rPr lang="en-US" dirty="0" smtClean="0">
                <a:hlinkClick r:id="rId9" tooltip="Concrete"/>
              </a:rPr>
              <a:t>concrete</a:t>
            </a:r>
            <a:r>
              <a:rPr lang="en-US" dirty="0" smtClean="0"/>
              <a:t>. Concrete is the most widely used material in existence and is behind only water as the planet's most-consumed resource</a:t>
            </a:r>
            <a:r>
              <a:rPr lang="en-US" dirty="0" smtClean="0"/>
              <a:t>.</a:t>
            </a:r>
            <a:endParaRPr lang="en-US" baseline="30000" dirty="0" smtClean="0"/>
          </a:p>
          <a:p>
            <a:endParaRPr lang="en-US" dirty="0" smtClean="0"/>
          </a:p>
          <a:p>
            <a:r>
              <a:rPr lang="en-US" dirty="0" smtClean="0"/>
              <a:t>Cements used in construction are usually </a:t>
            </a:r>
            <a:r>
              <a:rPr lang="en-US" dirty="0" smtClean="0">
                <a:hlinkClick r:id="rId10" tooltip="Inorganic"/>
              </a:rPr>
              <a:t>inorganic</a:t>
            </a:r>
            <a:r>
              <a:rPr lang="en-US" dirty="0" smtClean="0"/>
              <a:t>, often </a:t>
            </a:r>
            <a:r>
              <a:rPr lang="en-US" dirty="0" smtClean="0">
                <a:hlinkClick r:id="rId11" tooltip="Lime (material)"/>
              </a:rPr>
              <a:t>lime</a:t>
            </a:r>
            <a:r>
              <a:rPr lang="en-US" dirty="0" smtClean="0"/>
              <a:t> or </a:t>
            </a:r>
            <a:r>
              <a:rPr lang="en-US" dirty="0" smtClean="0">
                <a:hlinkClick r:id="rId12" tooltip="Calcium silicate"/>
              </a:rPr>
              <a:t>calcium silicate</a:t>
            </a:r>
            <a:r>
              <a:rPr lang="en-US" dirty="0" smtClean="0"/>
              <a:t> based, which can be characterized as </a:t>
            </a:r>
            <a:r>
              <a:rPr lang="en-US" b="1" dirty="0" smtClean="0"/>
              <a:t>non-hydraulic</a:t>
            </a:r>
            <a:r>
              <a:rPr lang="en-US" dirty="0" smtClean="0"/>
              <a:t> or </a:t>
            </a:r>
            <a:r>
              <a:rPr lang="en-US" b="1" dirty="0" smtClean="0"/>
              <a:t>hydraulic</a:t>
            </a:r>
            <a:r>
              <a:rPr lang="en-US" dirty="0" smtClean="0"/>
              <a:t> respectively, depending on the ability of the cement to set in the presence of water (see </a:t>
            </a:r>
            <a:r>
              <a:rPr lang="en-US" dirty="0" smtClean="0">
                <a:hlinkClick r:id="rId13" tooltip="Lime mortar"/>
              </a:rPr>
              <a:t>hydraulic and non-hydraulic lime plaster</a:t>
            </a:r>
            <a:r>
              <a:rPr lang="en-US" dirty="0" smtClean="0"/>
              <a:t>).</a:t>
            </a:r>
          </a:p>
          <a:p>
            <a:endParaRPr lang="en-US" dirty="0" smtClean="0"/>
          </a:p>
        </p:txBody>
      </p:sp>
      <p:sp>
        <p:nvSpPr>
          <p:cNvPr id="3" name="Title 2"/>
          <p:cNvSpPr>
            <a:spLocks noGrp="1"/>
          </p:cNvSpPr>
          <p:nvPr>
            <p:ph type="title"/>
          </p:nvPr>
        </p:nvSpPr>
        <p:spPr/>
        <p:txBody>
          <a:bodyPr/>
          <a:lstStyle/>
          <a:p>
            <a:r>
              <a:rPr lang="en-US" dirty="0" smtClean="0"/>
              <a:t>INTRODUCTION OF CEMENT</a:t>
            </a:r>
            <a:endParaRPr lang="en-US" dirty="0"/>
          </a:p>
        </p:txBody>
      </p:sp>
    </p:spTree>
  </p:cSld>
  <p:clrMapOvr>
    <a:masterClrMapping/>
  </p:clrMapOvr>
  <p:transition spd="slow">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6477000"/>
          </a:xfrm>
        </p:spPr>
        <p:txBody>
          <a:bodyPr>
            <a:normAutofit fontScale="70000" lnSpcReduction="20000"/>
          </a:bodyPr>
          <a:lstStyle/>
          <a:p>
            <a:r>
              <a:rPr lang="en-US" b="1" dirty="0" smtClean="0"/>
              <a:t>Non-hydraulic </a:t>
            </a:r>
            <a:r>
              <a:rPr lang="en-US" b="1" dirty="0" smtClean="0"/>
              <a:t>cement</a:t>
            </a:r>
            <a:r>
              <a:rPr lang="en-US" dirty="0" smtClean="0"/>
              <a:t> does not set in wet conditions or under water. Rather, it sets as it dries and reacts with </a:t>
            </a:r>
            <a:r>
              <a:rPr lang="en-US" dirty="0" smtClean="0">
                <a:hlinkClick r:id="rId2" tooltip="Carbon dioxide"/>
              </a:rPr>
              <a:t>carbon dioxide</a:t>
            </a:r>
            <a:r>
              <a:rPr lang="en-US" dirty="0" smtClean="0"/>
              <a:t> in the air. It is resistant to attack by chemicals after setting</a:t>
            </a:r>
            <a:r>
              <a:rPr lang="en-US" dirty="0" smtClean="0"/>
              <a:t>.</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lgn="ctr"/>
            <a:r>
              <a:rPr lang="en-US" b="1" dirty="0" smtClean="0"/>
              <a:t>Hydraulic cements</a:t>
            </a:r>
            <a:r>
              <a:rPr lang="en-US" dirty="0" smtClean="0"/>
              <a:t> (e.g., </a:t>
            </a:r>
            <a:r>
              <a:rPr lang="en-US" dirty="0" smtClean="0">
                <a:hlinkClick r:id="rId3" tooltip="Portland cement"/>
              </a:rPr>
              <a:t>Portland cement</a:t>
            </a:r>
            <a:r>
              <a:rPr lang="en-US" dirty="0" smtClean="0"/>
              <a:t>) set and become </a:t>
            </a:r>
            <a:r>
              <a:rPr lang="en-US" dirty="0" smtClean="0">
                <a:hlinkClick r:id="rId4" tooltip="Adhesive"/>
              </a:rPr>
              <a:t>adhesive</a:t>
            </a:r>
            <a:r>
              <a:rPr lang="en-US" dirty="0" smtClean="0"/>
              <a:t> due to a </a:t>
            </a:r>
            <a:r>
              <a:rPr lang="en-US" dirty="0" smtClean="0">
                <a:hlinkClick r:id="rId5" tooltip="Chemical reaction"/>
              </a:rPr>
              <a:t>chemical reaction</a:t>
            </a:r>
            <a:r>
              <a:rPr lang="en-US" dirty="0" smtClean="0"/>
              <a:t> between the dry ingredients and water. The chemical reaction results in mineral </a:t>
            </a:r>
            <a:r>
              <a:rPr lang="en-US" dirty="0" smtClean="0">
                <a:hlinkClick r:id="rId6" tooltip="Hydrate"/>
              </a:rPr>
              <a:t>hydrates</a:t>
            </a:r>
            <a:r>
              <a:rPr lang="en-US" dirty="0" smtClean="0"/>
              <a:t> that are not very water-soluble and so are quite durable in water and safe from chemical attack. This allows setting in wet conditions or under water and further protects the hardened material from chemical attack. The chemical process for hydraulic cement was found by ancient Romans who used </a:t>
            </a:r>
            <a:r>
              <a:rPr lang="en-US" dirty="0" smtClean="0">
                <a:hlinkClick r:id="rId7" tooltip="Volcanic ash"/>
              </a:rPr>
              <a:t>volcanic ash</a:t>
            </a:r>
            <a:r>
              <a:rPr lang="en-US" dirty="0" smtClean="0"/>
              <a:t> (</a:t>
            </a:r>
            <a:r>
              <a:rPr lang="en-US" dirty="0" err="1" smtClean="0">
                <a:hlinkClick r:id="rId8" tooltip="Pozzolana"/>
              </a:rPr>
              <a:t>pozzolana</a:t>
            </a:r>
            <a:r>
              <a:rPr lang="en-US" dirty="0" smtClean="0"/>
              <a:t>) with added lime (calcium oxide).</a:t>
            </a:r>
            <a:endParaRPr lang="en-US" dirty="0"/>
          </a:p>
        </p:txBody>
      </p:sp>
      <p:sp>
        <p:nvSpPr>
          <p:cNvPr id="3" name="Title 2"/>
          <p:cNvSpPr>
            <a:spLocks noGrp="1"/>
          </p:cNvSpPr>
          <p:nvPr>
            <p:ph type="title"/>
          </p:nvPr>
        </p:nvSpPr>
        <p:spPr/>
        <p:txBody>
          <a:bodyPr/>
          <a:lstStyle/>
          <a:p>
            <a:endParaRPr lang="en-US" dirty="0"/>
          </a:p>
        </p:txBody>
      </p:sp>
      <p:pic>
        <p:nvPicPr>
          <p:cNvPr id="4" name="Picture 3" descr="20190207_01-1170x717.jpg"/>
          <p:cNvPicPr>
            <a:picLocks noChangeAspect="1"/>
          </p:cNvPicPr>
          <p:nvPr/>
        </p:nvPicPr>
        <p:blipFill>
          <a:blip r:embed="rId9"/>
          <a:stretch>
            <a:fillRect/>
          </a:stretch>
        </p:blipFill>
        <p:spPr>
          <a:xfrm>
            <a:off x="616857" y="1143000"/>
            <a:ext cx="8069943" cy="2667000"/>
          </a:xfrm>
          <a:prstGeom prst="rect">
            <a:avLst/>
          </a:prstGeom>
        </p:spPr>
      </p:pic>
    </p:spTree>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066801"/>
          <a:ext cx="8229600" cy="579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5"/>
          <p:cNvSpPr>
            <a:spLocks noGrp="1"/>
          </p:cNvSpPr>
          <p:nvPr>
            <p:ph type="title"/>
          </p:nvPr>
        </p:nvSpPr>
        <p:spPr/>
        <p:txBody>
          <a:bodyPr>
            <a:normAutofit/>
          </a:bodyPr>
          <a:lstStyle/>
          <a:p>
            <a:pPr algn="ctr"/>
            <a:r>
              <a:rPr lang="en-US" dirty="0" smtClean="0"/>
              <a:t>MEANING OF CEMENT</a:t>
            </a:r>
            <a:endParaRPr lang="en-US" dirty="0"/>
          </a:p>
        </p:txBody>
      </p:sp>
    </p:spTree>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Raw-Materials-Used-for-Manufacturing-of-Cement-01-0301050001.jpg"/>
          <p:cNvPicPr>
            <a:picLocks noGrp="1" noChangeAspect="1"/>
          </p:cNvPicPr>
          <p:nvPr>
            <p:ph idx="1"/>
          </p:nvPr>
        </p:nvPicPr>
        <p:blipFill>
          <a:blip r:embed="rId2"/>
          <a:stretch>
            <a:fillRect/>
          </a:stretch>
        </p:blipFill>
        <p:spPr>
          <a:xfrm>
            <a:off x="-533400" y="381000"/>
            <a:ext cx="10668000" cy="7432118"/>
          </a:xfrm>
        </p:spPr>
      </p:pic>
      <p:sp>
        <p:nvSpPr>
          <p:cNvPr id="3" name="Title 2"/>
          <p:cNvSpPr>
            <a:spLocks noGrp="1"/>
          </p:cNvSpPr>
          <p:nvPr>
            <p:ph type="title"/>
          </p:nvPr>
        </p:nvSpPr>
        <p:spPr>
          <a:xfrm>
            <a:off x="381000" y="0"/>
            <a:ext cx="8229600" cy="533400"/>
          </a:xfrm>
        </p:spPr>
        <p:txBody>
          <a:bodyPr>
            <a:normAutofit fontScale="90000"/>
          </a:bodyPr>
          <a:lstStyle/>
          <a:p>
            <a:pPr algn="ctr"/>
            <a:endParaRPr lang="en-US" dirty="0"/>
          </a:p>
        </p:txBody>
      </p:sp>
    </p:spTree>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smtClean="0"/>
              <a:t>Raw materials used for manufacturing of Portland cement are found naturally in the earth’s crust. It is made primarily from calcareous and argillaceous materials and gypsum. Calcareous materials contain limestone or chalk while argillaceous materials comprise an oxide of silica-alumina and iron. Both are found as clay or shale. Let’s understand the various types of cement raw materials used in the cement manufacturing </a:t>
            </a:r>
            <a:r>
              <a:rPr lang="en-US" dirty="0" smtClean="0"/>
              <a:t>process.</a:t>
            </a:r>
            <a:endParaRPr lang="en-US" dirty="0"/>
          </a:p>
        </p:txBody>
      </p:sp>
      <p:sp>
        <p:nvSpPr>
          <p:cNvPr id="3" name="Title 2"/>
          <p:cNvSpPr>
            <a:spLocks noGrp="1"/>
          </p:cNvSpPr>
          <p:nvPr>
            <p:ph type="title"/>
          </p:nvPr>
        </p:nvSpPr>
        <p:spPr/>
        <p:txBody>
          <a:bodyPr>
            <a:normAutofit fontScale="90000"/>
          </a:bodyPr>
          <a:lstStyle/>
          <a:p>
            <a:pPr algn="ctr"/>
            <a:r>
              <a:rPr lang="en-US" dirty="0" smtClean="0"/>
              <a:t>Raw Materials Used For Manufacturing of Cement</a:t>
            </a:r>
            <a:br>
              <a:rPr lang="en-US" dirty="0" smtClean="0"/>
            </a:br>
            <a:endParaRPr lang="en-US" dirty="0"/>
          </a:p>
        </p:txBody>
      </p:sp>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Limits-of-Main-Chemical-and-Oxide-Constituents-of-Ordinary-Portland-Cement-02-0301050001.jpg"/>
          <p:cNvPicPr>
            <a:picLocks noGrp="1" noChangeAspect="1"/>
          </p:cNvPicPr>
          <p:nvPr>
            <p:ph idx="1"/>
          </p:nvPr>
        </p:nvPicPr>
        <p:blipFill>
          <a:blip r:embed="rId2"/>
          <a:stretch>
            <a:fillRect/>
          </a:stretch>
        </p:blipFill>
        <p:spPr>
          <a:xfrm>
            <a:off x="304800" y="304801"/>
            <a:ext cx="8839200" cy="5567332"/>
          </a:xfrm>
        </p:spPr>
      </p:pic>
      <p:sp>
        <p:nvSpPr>
          <p:cNvPr id="3" name="Title 2"/>
          <p:cNvSpPr>
            <a:spLocks noGrp="1"/>
          </p:cNvSpPr>
          <p:nvPr>
            <p:ph type="title"/>
          </p:nvPr>
        </p:nvSpPr>
        <p:spPr/>
        <p:txBody>
          <a:bodyPr/>
          <a:lstStyle/>
          <a:p>
            <a:endParaRPr lang="en-US"/>
          </a:p>
        </p:txBody>
      </p:sp>
    </p:spTree>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9"/>
            <a:ext cx="8229600" cy="2862071"/>
          </a:xfrm>
        </p:spPr>
        <p:txBody>
          <a:bodyPr>
            <a:normAutofit fontScale="92500" lnSpcReduction="20000"/>
          </a:bodyPr>
          <a:lstStyle/>
          <a:p>
            <a:pPr algn="just"/>
            <a:r>
              <a:rPr lang="en-US" dirty="0" smtClean="0"/>
              <a:t>It </a:t>
            </a:r>
            <a:r>
              <a:rPr lang="en-US" dirty="0" smtClean="0"/>
              <a:t>is the main constituent used in cement manufacturing. It is responsible for imparting the cementing property to cement. An excess quantity of lime causes expansion and disintegration of the cement. Deficiency of lime causes decreased strength and the cement sets quickly. If it is used in the right proportion, it makes the cement sound and strong. Thus, lime can drastically change the </a:t>
            </a:r>
            <a:r>
              <a:rPr lang="en-US" dirty="0" smtClean="0">
                <a:hlinkClick r:id="rId2" tooltip="What are the Properties of Cement?"/>
              </a:rPr>
              <a:t>properties of cement</a:t>
            </a:r>
            <a:r>
              <a:rPr lang="en-US" dirty="0" smtClean="0"/>
              <a:t>.</a:t>
            </a:r>
          </a:p>
          <a:p>
            <a:pPr algn="just"/>
            <a:endParaRPr lang="en-US" dirty="0"/>
          </a:p>
        </p:txBody>
      </p:sp>
      <p:sp>
        <p:nvSpPr>
          <p:cNvPr id="3" name="Title 2"/>
          <p:cNvSpPr>
            <a:spLocks noGrp="1"/>
          </p:cNvSpPr>
          <p:nvPr>
            <p:ph type="title"/>
          </p:nvPr>
        </p:nvSpPr>
        <p:spPr/>
        <p:txBody>
          <a:bodyPr>
            <a:normAutofit fontScale="90000"/>
          </a:bodyPr>
          <a:lstStyle/>
          <a:p>
            <a:r>
              <a:rPr lang="en-US" dirty="0" smtClean="0"/>
              <a:t>                   01</a:t>
            </a:r>
            <a:r>
              <a:rPr lang="en-US" dirty="0" smtClean="0"/>
              <a:t>. Lime</a:t>
            </a:r>
            <a:br>
              <a:rPr lang="en-US" dirty="0" smtClean="0"/>
            </a:br>
            <a:endParaRPr lang="en-US" dirty="0"/>
          </a:p>
        </p:txBody>
      </p:sp>
      <p:pic>
        <p:nvPicPr>
          <p:cNvPr id="7172" name="Picture 4" descr="C:\Users\Dell\AppData\Local\Microsoft\Windows\INetCache\IE\TVKBZP0J\42263481431_c7a99653d7_b[1].jpg"/>
          <p:cNvPicPr>
            <a:picLocks noChangeAspect="1" noChangeArrowheads="1"/>
          </p:cNvPicPr>
          <p:nvPr/>
        </p:nvPicPr>
        <p:blipFill>
          <a:blip r:embed="rId3" cstate="print"/>
          <a:srcRect/>
          <a:stretch>
            <a:fillRect/>
          </a:stretch>
        </p:blipFill>
        <p:spPr bwMode="auto">
          <a:xfrm>
            <a:off x="4876800" y="4267200"/>
            <a:ext cx="3962400" cy="2406221"/>
          </a:xfrm>
          <a:prstGeom prst="rect">
            <a:avLst/>
          </a:prstGeom>
          <a:noFill/>
        </p:spPr>
      </p:pic>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smtClean="0"/>
              <a:t>This plays a major role in imparting strength to concrete. Silica undergoes a chemical reaction with calcium to form </a:t>
            </a:r>
            <a:r>
              <a:rPr lang="en-US" dirty="0" err="1" smtClean="0"/>
              <a:t>dicalcium</a:t>
            </a:r>
            <a:r>
              <a:rPr lang="en-US" dirty="0" smtClean="0"/>
              <a:t> silicate (C2S) and </a:t>
            </a:r>
            <a:r>
              <a:rPr lang="en-US" dirty="0" err="1" smtClean="0"/>
              <a:t>tricalcium</a:t>
            </a:r>
            <a:r>
              <a:rPr lang="en-US" dirty="0" smtClean="0"/>
              <a:t> silicates (C3S). Excess silica adds strength to cement but it prolongs the </a:t>
            </a:r>
            <a:r>
              <a:rPr lang="en-US" dirty="0" smtClean="0">
                <a:hlinkClick r:id="rId2" tooltip="What is Setting Time of Cement?"/>
              </a:rPr>
              <a:t>setting time</a:t>
            </a:r>
            <a:r>
              <a:rPr lang="en-US" dirty="0" smtClean="0"/>
              <a:t>.</a:t>
            </a:r>
          </a:p>
          <a:p>
            <a:pPr>
              <a:buNone/>
            </a:pPr>
            <a:endParaRPr lang="en-US" dirty="0" smtClean="0"/>
          </a:p>
          <a:p>
            <a:endParaRPr lang="en-US" dirty="0"/>
          </a:p>
        </p:txBody>
      </p:sp>
      <p:sp>
        <p:nvSpPr>
          <p:cNvPr id="3" name="Title 2"/>
          <p:cNvSpPr>
            <a:spLocks noGrp="1"/>
          </p:cNvSpPr>
          <p:nvPr>
            <p:ph type="title"/>
          </p:nvPr>
        </p:nvSpPr>
        <p:spPr/>
        <p:txBody>
          <a:bodyPr>
            <a:normAutofit fontScale="90000"/>
          </a:bodyPr>
          <a:lstStyle/>
          <a:p>
            <a:pPr algn="ctr"/>
            <a:r>
              <a:rPr lang="en-US" dirty="0" smtClean="0"/>
              <a:t>02. Silica</a:t>
            </a:r>
            <a:r>
              <a:rPr lang="en-US" b="0" dirty="0" smtClean="0"/>
              <a:t/>
            </a:r>
            <a:br>
              <a:rPr lang="en-US" b="0" dirty="0" smtClean="0"/>
            </a:br>
            <a:endParaRPr lang="en-US" dirty="0"/>
          </a:p>
        </p:txBody>
      </p:sp>
      <p:pic>
        <p:nvPicPr>
          <p:cNvPr id="5123" name="Picture 3" descr="C:\Users\Dell\AppData\Local\Microsoft\Windows\INetCache\IE\CNNBN98E\sand_yellow_grain_silica_stones_fine_beach-952072[1].jpg"/>
          <p:cNvPicPr>
            <a:picLocks noChangeAspect="1" noChangeArrowheads="1"/>
          </p:cNvPicPr>
          <p:nvPr/>
        </p:nvPicPr>
        <p:blipFill>
          <a:blip r:embed="rId3" cstate="print"/>
          <a:srcRect/>
          <a:stretch>
            <a:fillRect/>
          </a:stretch>
        </p:blipFill>
        <p:spPr bwMode="auto">
          <a:xfrm>
            <a:off x="4724400" y="4114800"/>
            <a:ext cx="3804715" cy="2286000"/>
          </a:xfrm>
          <a:prstGeom prst="rect">
            <a:avLst/>
          </a:prstGeom>
          <a:noFill/>
        </p:spPr>
      </p:pic>
    </p:spTree>
  </p:cSld>
  <p:clrMapOvr>
    <a:masterClrMapping/>
  </p:clrMapOvr>
  <p:transition spd="slow">
    <p:randomBa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smtClean="0"/>
              <a:t>This forms complex compounds with silica and calcium to improve the setting capacity of the cement. It acts as a flux and lowers the clinkering temperature. Use of an excess amount of alumina quickens the setting time but reduces the strength of cement.</a:t>
            </a:r>
            <a:endParaRPr lang="en-US" dirty="0"/>
          </a:p>
        </p:txBody>
      </p:sp>
      <p:sp>
        <p:nvSpPr>
          <p:cNvPr id="3" name="Title 2"/>
          <p:cNvSpPr>
            <a:spLocks noGrp="1"/>
          </p:cNvSpPr>
          <p:nvPr>
            <p:ph type="title"/>
          </p:nvPr>
        </p:nvSpPr>
        <p:spPr/>
        <p:txBody>
          <a:bodyPr>
            <a:normAutofit fontScale="90000"/>
          </a:bodyPr>
          <a:lstStyle/>
          <a:p>
            <a:pPr algn="ctr"/>
            <a:r>
              <a:rPr lang="en-US" dirty="0" smtClean="0"/>
              <a:t>03. Alumina</a:t>
            </a:r>
            <a:r>
              <a:rPr lang="en-US" b="0" dirty="0" smtClean="0"/>
              <a:t/>
            </a:r>
            <a:br>
              <a:rPr lang="en-US" b="0" dirty="0" smtClean="0"/>
            </a:br>
            <a:endParaRPr lang="en-US" dirty="0"/>
          </a:p>
        </p:txBody>
      </p:sp>
      <p:pic>
        <p:nvPicPr>
          <p:cNvPr id="6146" name="Picture 2" descr="C:\Users\Dell\AppData\Local\Microsoft\Windows\INetCache\IE\CNNBN98E\c9cc01624d-f2[1].gif"/>
          <p:cNvPicPr>
            <a:picLocks noChangeAspect="1" noChangeArrowheads="1"/>
          </p:cNvPicPr>
          <p:nvPr/>
        </p:nvPicPr>
        <p:blipFill>
          <a:blip r:embed="rId2"/>
          <a:srcRect/>
          <a:stretch>
            <a:fillRect/>
          </a:stretch>
        </p:blipFill>
        <p:spPr bwMode="auto">
          <a:xfrm>
            <a:off x="5181600" y="4038600"/>
            <a:ext cx="3733800" cy="2510681"/>
          </a:xfrm>
          <a:prstGeom prst="rect">
            <a:avLst/>
          </a:prstGeom>
          <a:noFill/>
        </p:spPr>
      </p:pic>
    </p:spTree>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smtClean="0"/>
              <a:t>This is mainly responsible for imparting </a:t>
            </a:r>
            <a:r>
              <a:rPr lang="en-US" dirty="0" err="1" smtClean="0">
                <a:hlinkClick r:id="rId2" tooltip="Does the Shade or Colour of Cement Affects the Strength of Cement?"/>
              </a:rPr>
              <a:t>colour</a:t>
            </a:r>
            <a:r>
              <a:rPr lang="en-US" dirty="0" smtClean="0">
                <a:hlinkClick r:id="rId2" tooltip="Does the Shade or Colour of Cement Affects the Strength of Cement?"/>
              </a:rPr>
              <a:t> to cement</a:t>
            </a:r>
            <a:r>
              <a:rPr lang="en-US" dirty="0" smtClean="0"/>
              <a:t>. The hardness and </a:t>
            </a:r>
            <a:r>
              <a:rPr lang="en-US" dirty="0" smtClean="0">
                <a:hlinkClick r:id="rId3" tooltip="Tests to Check the Compressive Strength of Cement"/>
              </a:rPr>
              <a:t>strength of the cement</a:t>
            </a:r>
            <a:r>
              <a:rPr lang="en-US" dirty="0" smtClean="0"/>
              <a:t> are also improved to a certain extent. It helps in the fusion of raw materials during the </a:t>
            </a:r>
            <a:r>
              <a:rPr lang="en-US" dirty="0" smtClean="0">
                <a:hlinkClick r:id="rId4" tooltip="Manufacturing Process of Ordinary Portland Cement (OPC)"/>
              </a:rPr>
              <a:t>cement manufacturing process</a:t>
            </a:r>
            <a:r>
              <a:rPr lang="en-US" dirty="0" smtClean="0"/>
              <a:t>.</a:t>
            </a:r>
          </a:p>
          <a:p>
            <a:pPr algn="just"/>
            <a:endParaRPr lang="en-US" dirty="0"/>
          </a:p>
        </p:txBody>
      </p:sp>
      <p:sp>
        <p:nvSpPr>
          <p:cNvPr id="3" name="Title 2"/>
          <p:cNvSpPr>
            <a:spLocks noGrp="1"/>
          </p:cNvSpPr>
          <p:nvPr>
            <p:ph type="title"/>
          </p:nvPr>
        </p:nvSpPr>
        <p:spPr/>
        <p:txBody>
          <a:bodyPr>
            <a:normAutofit fontScale="90000"/>
          </a:bodyPr>
          <a:lstStyle/>
          <a:p>
            <a:pPr algn="ctr"/>
            <a:r>
              <a:rPr lang="en-US" dirty="0" smtClean="0"/>
              <a:t>04. Iron Oxide</a:t>
            </a:r>
            <a:r>
              <a:rPr lang="en-US" b="0" dirty="0" smtClean="0"/>
              <a:t/>
            </a:r>
            <a:br>
              <a:rPr lang="en-US" b="0" dirty="0" smtClean="0"/>
            </a:br>
            <a:endParaRPr lang="en-US" dirty="0"/>
          </a:p>
        </p:txBody>
      </p:sp>
      <p:pic>
        <p:nvPicPr>
          <p:cNvPr id="8195" name="Picture 3" descr="C:\Users\Dell\AppData\Local\Microsoft\Windows\INetCache\IE\JIB54UUC\Iron(III)-oxide-sample[1].jpg"/>
          <p:cNvPicPr>
            <a:picLocks noChangeAspect="1" noChangeArrowheads="1"/>
          </p:cNvPicPr>
          <p:nvPr/>
        </p:nvPicPr>
        <p:blipFill>
          <a:blip r:embed="rId5"/>
          <a:srcRect/>
          <a:stretch>
            <a:fillRect/>
          </a:stretch>
        </p:blipFill>
        <p:spPr bwMode="auto">
          <a:xfrm>
            <a:off x="5029200" y="3657600"/>
            <a:ext cx="3942080" cy="2956560"/>
          </a:xfrm>
          <a:prstGeom prst="rect">
            <a:avLst/>
          </a:prstGeom>
          <a:noFill/>
        </p:spPr>
      </p:pic>
    </p:spTree>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smtClean="0"/>
              <a:t>It imparts strength to the cement when mixed in a small quantity; however, an excess amount makes the cement unsound.</a:t>
            </a:r>
            <a:endParaRPr lang="en-US" dirty="0"/>
          </a:p>
        </p:txBody>
      </p:sp>
      <p:sp>
        <p:nvSpPr>
          <p:cNvPr id="3" name="Title 2"/>
          <p:cNvSpPr>
            <a:spLocks noGrp="1"/>
          </p:cNvSpPr>
          <p:nvPr>
            <p:ph type="title"/>
          </p:nvPr>
        </p:nvSpPr>
        <p:spPr/>
        <p:txBody>
          <a:bodyPr>
            <a:normAutofit fontScale="90000"/>
          </a:bodyPr>
          <a:lstStyle/>
          <a:p>
            <a:pPr algn="ctr"/>
            <a:r>
              <a:rPr lang="en-US" dirty="0" smtClean="0"/>
              <a:t>05. Magnesium Oxide</a:t>
            </a:r>
            <a:r>
              <a:rPr lang="en-US" b="0" dirty="0" smtClean="0"/>
              <a:t/>
            </a:r>
            <a:br>
              <a:rPr lang="en-US" b="0" dirty="0" smtClean="0"/>
            </a:br>
            <a:endParaRPr lang="en-US" dirty="0"/>
          </a:p>
        </p:txBody>
      </p:sp>
      <p:pic>
        <p:nvPicPr>
          <p:cNvPr id="10245" name="Picture 5" descr="C:\Users\Dell\AppData\Local\Microsoft\Windows\INetCache\IE\8O6UVH2B\unnamed[1].jpg"/>
          <p:cNvPicPr>
            <a:picLocks noChangeAspect="1" noChangeArrowheads="1"/>
          </p:cNvPicPr>
          <p:nvPr/>
        </p:nvPicPr>
        <p:blipFill>
          <a:blip r:embed="rId2"/>
          <a:srcRect/>
          <a:stretch>
            <a:fillRect/>
          </a:stretch>
        </p:blipFill>
        <p:spPr bwMode="auto">
          <a:xfrm>
            <a:off x="5257800" y="2743200"/>
            <a:ext cx="3633788" cy="3962400"/>
          </a:xfrm>
          <a:prstGeom prst="rect">
            <a:avLst/>
          </a:prstGeom>
          <a:noFill/>
        </p:spPr>
      </p:pic>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algn="just"/>
            <a:r>
              <a:rPr lang="en-US" dirty="0" smtClean="0"/>
              <a:t>This makes the </a:t>
            </a:r>
            <a:r>
              <a:rPr lang="en-US" dirty="0" smtClean="0">
                <a:hlinkClick r:id="rId2" tooltip="Cement Widely Used Building Material | All the Basic Info You Need to Know!"/>
              </a:rPr>
              <a:t>cement</a:t>
            </a:r>
            <a:r>
              <a:rPr lang="en-US" dirty="0" smtClean="0"/>
              <a:t> sound if present in small quantity but an excess can make the cement unsound.</a:t>
            </a:r>
          </a:p>
          <a:p>
            <a:pPr algn="just"/>
            <a:r>
              <a:rPr lang="en-US" dirty="0" smtClean="0"/>
              <a:t>Cement is sometimes blended with other </a:t>
            </a:r>
            <a:r>
              <a:rPr lang="en-US" dirty="0" err="1" smtClean="0"/>
              <a:t>cementitious</a:t>
            </a:r>
            <a:r>
              <a:rPr lang="en-US" dirty="0" smtClean="0"/>
              <a:t> and/or a special material. This cement is called blended cement. They are produced by properly blending two or more types of </a:t>
            </a:r>
            <a:r>
              <a:rPr lang="en-US" dirty="0" err="1" smtClean="0"/>
              <a:t>cementitious</a:t>
            </a:r>
            <a:r>
              <a:rPr lang="en-US" dirty="0" smtClean="0"/>
              <a:t> materials and cement raw materials. Generally, the primary blending materials are </a:t>
            </a:r>
            <a:r>
              <a:rPr lang="en-US" dirty="0" smtClean="0">
                <a:hlinkClick r:id="rId3" tooltip="Fly Ash for Concrete: Properties, Uses, Advantages &amp; Disadvantages"/>
              </a:rPr>
              <a:t>fly ash</a:t>
            </a:r>
            <a:r>
              <a:rPr lang="en-US" dirty="0" smtClean="0"/>
              <a:t>, </a:t>
            </a:r>
            <a:r>
              <a:rPr lang="en-US" dirty="0" smtClean="0">
                <a:hlinkClick r:id="rId4" tooltip="GGBS – Ground Granulated Blast Furnace Slag for Concrete!"/>
              </a:rPr>
              <a:t>ground granulated blast furnace slag (GGBS)</a:t>
            </a:r>
            <a:r>
              <a:rPr lang="en-US" dirty="0" smtClean="0"/>
              <a:t>, </a:t>
            </a:r>
            <a:r>
              <a:rPr lang="en-US" dirty="0" smtClean="0">
                <a:hlinkClick r:id="rId5" tooltip="Silica Fume (Micro Silica): Pros – Cons &amp; Its Effect on the Properties of Concrete!"/>
              </a:rPr>
              <a:t>silica fume</a:t>
            </a:r>
            <a:r>
              <a:rPr lang="en-US" dirty="0" smtClean="0"/>
              <a:t>, and natural </a:t>
            </a:r>
            <a:r>
              <a:rPr lang="en-US" dirty="0" err="1" smtClean="0">
                <a:hlinkClick r:id="rId6" tooltip="Pozzolanic Materials: Eco Friendly Substitute of Cement Ingredients"/>
              </a:rPr>
              <a:t>pozzolana</a:t>
            </a:r>
            <a:r>
              <a:rPr lang="en-US" dirty="0" smtClean="0"/>
              <a:t>.</a:t>
            </a:r>
          </a:p>
          <a:p>
            <a:pPr algn="just"/>
            <a:endParaRPr lang="en-US" dirty="0"/>
          </a:p>
        </p:txBody>
      </p:sp>
      <p:sp>
        <p:nvSpPr>
          <p:cNvPr id="3" name="Title 2"/>
          <p:cNvSpPr>
            <a:spLocks noGrp="1"/>
          </p:cNvSpPr>
          <p:nvPr>
            <p:ph type="title"/>
          </p:nvPr>
        </p:nvSpPr>
        <p:spPr/>
        <p:txBody>
          <a:bodyPr>
            <a:normAutofit fontScale="90000"/>
          </a:bodyPr>
          <a:lstStyle/>
          <a:p>
            <a:pPr algn="ctr"/>
            <a:r>
              <a:rPr lang="en-US" dirty="0" smtClean="0"/>
              <a:t>06. </a:t>
            </a:r>
            <a:r>
              <a:rPr lang="en-US" dirty="0" err="1" smtClean="0"/>
              <a:t>Sulphur</a:t>
            </a:r>
            <a:r>
              <a:rPr lang="en-US" dirty="0" smtClean="0"/>
              <a:t> Trioxide</a:t>
            </a:r>
            <a:r>
              <a:rPr lang="en-US" b="0" dirty="0" smtClean="0"/>
              <a:t/>
            </a:r>
            <a:br>
              <a:rPr lang="en-US" b="0" dirty="0" smtClean="0"/>
            </a:br>
            <a:endParaRPr lang="en-US" dirty="0"/>
          </a:p>
        </p:txBody>
      </p:sp>
      <p:pic>
        <p:nvPicPr>
          <p:cNvPr id="9218" name="Picture 2" descr="C:\Users\Dell\AppData\Local\Microsoft\Windows\INetCache\IE\8O6UVH2B\630px-Sulfur-trioxide-3D-balls[1].png"/>
          <p:cNvPicPr>
            <a:picLocks noChangeAspect="1" noChangeArrowheads="1"/>
          </p:cNvPicPr>
          <p:nvPr/>
        </p:nvPicPr>
        <p:blipFill>
          <a:blip r:embed="rId7"/>
          <a:srcRect/>
          <a:stretch>
            <a:fillRect/>
          </a:stretch>
        </p:blipFill>
        <p:spPr bwMode="auto">
          <a:xfrm>
            <a:off x="7058025" y="-152400"/>
            <a:ext cx="2085975" cy="1986643"/>
          </a:xfrm>
          <a:prstGeom prst="rect">
            <a:avLst/>
          </a:prstGeom>
          <a:noFill/>
        </p:spPr>
      </p:pic>
    </p:spTree>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ny-queries-png-4.png"/>
          <p:cNvPicPr>
            <a:picLocks noGrp="1" noChangeAspect="1"/>
          </p:cNvPicPr>
          <p:nvPr>
            <p:ph idx="1"/>
          </p:nvPr>
        </p:nvPicPr>
        <p:blipFill>
          <a:blip r:embed="rId2"/>
          <a:stretch>
            <a:fillRect/>
          </a:stretch>
        </p:blipFill>
        <p:spPr>
          <a:xfrm>
            <a:off x="762000" y="3813"/>
            <a:ext cx="6553200" cy="6433325"/>
          </a:xfrm>
        </p:spPr>
      </p:pic>
      <p:sp>
        <p:nvSpPr>
          <p:cNvPr id="3" name="Title 2"/>
          <p:cNvSpPr>
            <a:spLocks noGrp="1"/>
          </p:cNvSpPr>
          <p:nvPr>
            <p:ph type="title"/>
          </p:nvPr>
        </p:nvSpPr>
        <p:spPr/>
        <p:txBody>
          <a:bodyPr/>
          <a:lstStyle/>
          <a:p>
            <a:endParaRPr lang="en-US"/>
          </a:p>
        </p:txBody>
      </p:sp>
      <p:pic>
        <p:nvPicPr>
          <p:cNvPr id="4098" name="Picture 2" descr="C:\Users\Dell\AppData\Local\Microsoft\Windows\INetCache\IE\8O6UVH2B\question_mark_PNG52[1].png"/>
          <p:cNvPicPr>
            <a:picLocks noChangeAspect="1" noChangeArrowheads="1"/>
          </p:cNvPicPr>
          <p:nvPr/>
        </p:nvPicPr>
        <p:blipFill>
          <a:blip r:embed="rId3" cstate="print"/>
          <a:srcRect/>
          <a:stretch>
            <a:fillRect/>
          </a:stretch>
        </p:blipFill>
        <p:spPr bwMode="auto">
          <a:xfrm>
            <a:off x="6172200" y="3505200"/>
            <a:ext cx="3352800" cy="3352800"/>
          </a:xfrm>
          <a:prstGeom prst="rect">
            <a:avLst/>
          </a:prstGeom>
          <a:noFill/>
        </p:spPr>
      </p:pic>
      <p:pic>
        <p:nvPicPr>
          <p:cNvPr id="4099" name="Picture 3" descr="C:\Users\Dell\AppData\Local\Microsoft\Windows\INetCache\IE\8O6UVH2B\question_mark_PNG52[1].png"/>
          <p:cNvPicPr>
            <a:picLocks noChangeAspect="1" noChangeArrowheads="1"/>
          </p:cNvPicPr>
          <p:nvPr/>
        </p:nvPicPr>
        <p:blipFill>
          <a:blip r:embed="rId4" cstate="print"/>
          <a:srcRect/>
          <a:stretch>
            <a:fillRect/>
          </a:stretch>
        </p:blipFill>
        <p:spPr bwMode="auto">
          <a:xfrm>
            <a:off x="-304800" y="0"/>
            <a:ext cx="3505200" cy="3505200"/>
          </a:xfrm>
          <a:prstGeom prst="rect">
            <a:avLst/>
          </a:prstGeom>
          <a:noFill/>
        </p:spPr>
      </p:pic>
    </p:spTree>
  </p:cSld>
  <p:clrMapOvr>
    <a:masterClrMapping/>
  </p:clrMapOvr>
  <p:transition spd="slow">
    <p:comb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438400"/>
            <a:ext cx="8229600" cy="3870960"/>
          </a:xfrm>
        </p:spPr>
        <p:txBody>
          <a:bodyPr>
            <a:normAutofit/>
          </a:bodyPr>
          <a:lstStyle/>
          <a:p>
            <a:pPr algn="ctr">
              <a:buNone/>
            </a:pPr>
            <a:r>
              <a:rPr lang="en-US" sz="5400" dirty="0" smtClean="0">
                <a:solidFill>
                  <a:srgbClr val="FF0000"/>
                </a:solidFill>
                <a:latin typeface="Cooper Black" pitchFamily="18" charset="0"/>
              </a:rPr>
              <a:t>THANK YOU!</a:t>
            </a:r>
          </a:p>
          <a:p>
            <a:pPr algn="ctr">
              <a:buNone/>
            </a:pPr>
            <a:r>
              <a:rPr lang="en-US" sz="5400" dirty="0" smtClean="0">
                <a:solidFill>
                  <a:srgbClr val="FF0000"/>
                </a:solidFill>
                <a:latin typeface="Cooper Black" pitchFamily="18" charset="0"/>
              </a:rPr>
              <a:t>HAVE A GOOD DAY….</a:t>
            </a:r>
            <a:endParaRPr lang="en-US" sz="5400" dirty="0">
              <a:solidFill>
                <a:srgbClr val="FF0000"/>
              </a:solidFill>
              <a:latin typeface="Cooper Black" pitchFamily="18" charset="0"/>
            </a:endParaRPr>
          </a:p>
        </p:txBody>
      </p:sp>
      <p:sp>
        <p:nvSpPr>
          <p:cNvPr id="3" name="Title 2"/>
          <p:cNvSpPr>
            <a:spLocks noGrp="1"/>
          </p:cNvSpPr>
          <p:nvPr>
            <p:ph type="title"/>
          </p:nvPr>
        </p:nvSpPr>
        <p:spPr/>
        <p:txBody>
          <a:bodyPr/>
          <a:lstStyle/>
          <a:p>
            <a:endParaRPr lang="en-US" dirty="0"/>
          </a:p>
        </p:txBody>
      </p:sp>
    </p:spTree>
  </p:cSld>
  <p:clrMapOvr>
    <a:masterClrMapping/>
  </p:clrMapOvr>
  <p:transition spd="slow">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111</TotalTime>
  <Words>364</Words>
  <Application>Microsoft Office PowerPoint</Application>
  <PresentationFormat>On-screen Show (4:3)</PresentationFormat>
  <Paragraphs>37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Concourse</vt:lpstr>
      <vt:lpstr>Slide 1</vt:lpstr>
      <vt:lpstr>INTRODUCTION OF CEMENT</vt:lpstr>
      <vt:lpstr>Slide 3</vt:lpstr>
      <vt:lpstr>MEANING OF CEMENT</vt:lpstr>
      <vt:lpstr>Slide 5</vt:lpstr>
      <vt:lpstr>Raw Materials Used For Manufacturing of Cement </vt:lpstr>
      <vt:lpstr>Slide 7</vt:lpstr>
      <vt:lpstr>                   01. Lime </vt:lpstr>
      <vt:lpstr>02. Silica </vt:lpstr>
      <vt:lpstr>03. Alumina </vt:lpstr>
      <vt:lpstr>04. Iron Oxide </vt:lpstr>
      <vt:lpstr>05. Magnesium Oxide </vt:lpstr>
      <vt:lpstr>06. Sulphur Trioxide </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12</cp:revision>
  <dcterms:created xsi:type="dcterms:W3CDTF">2022-03-17T03:34:03Z</dcterms:created>
  <dcterms:modified xsi:type="dcterms:W3CDTF">2022-03-17T05:25:42Z</dcterms:modified>
</cp:coreProperties>
</file>